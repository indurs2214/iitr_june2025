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8" r:id="rId6"/>
    <p:sldId id="267" r:id="rId7"/>
    <p:sldId id="269" r:id="rId8"/>
    <p:sldId id="262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434" autoAdjust="0"/>
  </p:normalViewPr>
  <p:slideViewPr>
    <p:cSldViewPr snapToGrid="0" snapToObjects="1">
      <p:cViewPr varScale="1">
        <p:scale>
          <a:sx n="98" d="100"/>
          <a:sy n="98" d="100"/>
        </p:scale>
        <p:origin x="5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80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3832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31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39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dilshamim8/student-performance-and-learning-styl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502920"/>
            <a:ext cx="2331720" cy="2331720"/>
          </a:xfrm>
          <a:prstGeom prst="ellipse">
            <a:avLst/>
          </a:prstGeom>
          <a:solidFill>
            <a:srgbClr val="112240">
              <a:alpha val="75000"/>
            </a:srgbClr>
          </a:solidFill>
          <a:ln w="9525">
            <a:solidFill>
              <a:srgbClr val="0E9E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1234440"/>
            <a:ext cx="1783080" cy="1783080"/>
          </a:xfrm>
          <a:prstGeom prst="ellipse">
            <a:avLst/>
          </a:prstGeom>
          <a:solidFill>
            <a:srgbClr val="3D2E0F">
              <a:alpha val="6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Exam Score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159105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 </a:t>
            </a:r>
            <a:r>
              <a:rPr lang="en-US" sz="145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Certificate — Applied Data Science &amp; AI</a:t>
            </a: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│  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1481328" cy="384048"/>
          </a:xfrm>
          <a:prstGeom prst="rect">
            <a:avLst/>
          </a:prstGeom>
          <a:ln w="12700">
            <a:solidFill>
              <a:srgbClr val="0E9E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46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Models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1938528" y="3246120"/>
            <a:ext cx="1481328" cy="384048"/>
          </a:xfrm>
          <a:prstGeom prst="rect">
            <a:avLst/>
          </a:prstGeom>
          <a:ln w="12700">
            <a:solidFill>
              <a:srgbClr val="0E9E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3246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Task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511296" y="3246120"/>
            <a:ext cx="1481328" cy="384048"/>
          </a:xfrm>
          <a:prstGeom prst="rect">
            <a:avLst/>
          </a:prstGeom>
          <a:ln w="12700">
            <a:solidFill>
              <a:srgbClr val="0E9E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1296" y="3246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084064" y="3246120"/>
            <a:ext cx="1481328" cy="384048"/>
          </a:xfrm>
          <a:prstGeom prst="rect">
            <a:avLst/>
          </a:prstGeom>
          <a:ln w="12700">
            <a:solidFill>
              <a:srgbClr val="0E9E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84064" y="3246120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Tuned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0" y="4224528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069080" cy="1965960"/>
          </a:xfrm>
          <a:prstGeom prst="rect">
            <a:avLst/>
          </a:prstGeom>
          <a:solidFill>
            <a:srgbClr val="112240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2801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student's academic behaviour, attendance, and demographic data, can we accurately predict their ExamScore before results are published?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26280" y="777240"/>
            <a:ext cx="4343400" cy="196596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8961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243584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5 regression models across baseline, regularized, bagging, and boosting approaches</a:t>
            </a:r>
            <a:r>
              <a:rPr lang="en-US" sz="108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177800" indent="-177800">
              <a:buSzPct val="100000"/>
              <a:buChar char="•"/>
            </a:pPr>
            <a:r>
              <a:rPr lang="en-US" sz="108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</a:t>
            </a: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best-performing model using 10-fold CV</a:t>
            </a:r>
            <a:endParaRPr lang="en-US" sz="1080" dirty="0" smtClean="0"/>
          </a:p>
          <a:p>
            <a:pPr marL="177800" indent="-177800">
              <a:buSzPct val="100000"/>
              <a:buChar char="•"/>
            </a:pPr>
            <a:r>
              <a:rPr lang="en-US" sz="108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</a:t>
            </a: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model with GridSearchCV</a:t>
            </a:r>
            <a:endParaRPr lang="en-US" sz="1080" dirty="0"/>
          </a:p>
          <a:p>
            <a:pPr marL="177800" indent="-177800">
              <a:buSzPct val="100000"/>
              <a:buChar char="•"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features that matter most for early intervention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274320" y="2926080"/>
            <a:ext cx="8595360" cy="1417320"/>
          </a:xfrm>
          <a:prstGeom prst="rect">
            <a:avLst/>
          </a:prstGeom>
          <a:solidFill>
            <a:srgbClr val="FEF3C7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0632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Design Decision — Avoiding Data Leakage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0156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FinalGrade column was removed before training. FinalGrade is derived from ExamScore after results are published — keeping it would let the model see post-exam information, inflating performance metrics artificially.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Student Performance and Learning Behavior Dataset  |  14,003 records  |  Regression task (continuous target: ExamScore)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1143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162763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04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14,003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93392" y="731520"/>
            <a:ext cx="162763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993392" y="804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93392" y="1188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712464" y="731520"/>
            <a:ext cx="162763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3712464" y="804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1,534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12464" y="1188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31536" y="731520"/>
            <a:ext cx="162763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31536" y="804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31536" y="1188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50608" y="731520"/>
            <a:ext cx="1627632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150608" y="804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50608" y="11887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1664208"/>
            <a:ext cx="4069080" cy="31089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16642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Steps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048256"/>
            <a:ext cx="64008" cy="379476"/>
          </a:xfrm>
          <a:prstGeom prst="rect">
            <a:avLst/>
          </a:prstGeom>
          <a:solidFill>
            <a:srgbClr val="0E9E8B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" y="2048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Remove Leakage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2336" y="22311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Dropped FinalGrade (correlation ≈1.0 with target)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482596"/>
            <a:ext cx="64008" cy="379476"/>
          </a:xfrm>
          <a:prstGeom prst="rect">
            <a:avLst/>
          </a:prstGeom>
          <a:solidFill>
            <a:srgbClr val="0E9E8B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" y="24825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Remove Duplicates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2336" y="26654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1,534 exact duplicate rows removed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916936"/>
            <a:ext cx="64008" cy="379476"/>
          </a:xfrm>
          <a:prstGeom prst="rect">
            <a:avLst/>
          </a:prstGeom>
          <a:solidFill>
            <a:srgbClr val="0E9E8B"/>
          </a:solidFill>
          <a:ln/>
        </p:spPr>
      </p:sp>
      <p:sp>
        <p:nvSpPr>
          <p:cNvPr id="29" name="Text 27"/>
          <p:cNvSpPr/>
          <p:nvPr/>
        </p:nvSpPr>
        <p:spPr>
          <a:xfrm>
            <a:off x="402336" y="2916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Train/Test Split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02336" y="30998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80% / 20% split, random_state=42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351276"/>
            <a:ext cx="64008" cy="379476"/>
          </a:xfrm>
          <a:prstGeom prst="rect">
            <a:avLst/>
          </a:prstGeom>
          <a:solidFill>
            <a:srgbClr val="0E9E8B"/>
          </a:solidFill>
          <a:ln/>
        </p:spPr>
      </p:sp>
      <p:sp>
        <p:nvSpPr>
          <p:cNvPr id="32" name="Text 30"/>
          <p:cNvSpPr/>
          <p:nvPr/>
        </p:nvSpPr>
        <p:spPr>
          <a:xfrm>
            <a:off x="402336" y="33512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Handle Missing Values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2336" y="35341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detected — imputation not required.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785616"/>
            <a:ext cx="64008" cy="379476"/>
          </a:xfrm>
          <a:prstGeom prst="rect">
            <a:avLst/>
          </a:prstGeom>
          <a:solidFill>
            <a:srgbClr val="0E9E8B"/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" y="3785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Outlier Check (IQR)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02336" y="39684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 rows removed — target has no extreme outliers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219956"/>
            <a:ext cx="64008" cy="379476"/>
          </a:xfrm>
          <a:prstGeom prst="rect">
            <a:avLst/>
          </a:prstGeom>
          <a:solidFill>
            <a:srgbClr val="0E9E8B"/>
          </a:solidFill>
          <a:ln/>
        </p:spPr>
      </p:sp>
      <p:sp>
        <p:nvSpPr>
          <p:cNvPr id="38" name="Text 36"/>
          <p:cNvSpPr/>
          <p:nvPr/>
        </p:nvSpPr>
        <p:spPr>
          <a:xfrm>
            <a:off x="402336" y="42199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Feature Scaling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02336" y="44028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applied only to linear models where required.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26280" y="1664208"/>
            <a:ext cx="4343400" cy="31089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41" name="Text 39"/>
          <p:cNvSpPr/>
          <p:nvPr/>
        </p:nvSpPr>
        <p:spPr>
          <a:xfrm>
            <a:off x="4636008" y="166420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 Pipeline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26279" y="2084832"/>
            <a:ext cx="1312545" cy="790956"/>
          </a:xfrm>
          <a:prstGeom prst="rect">
            <a:avLst/>
          </a:prstGeom>
          <a:solidFill>
            <a:srgbClr val="0EA5A5"/>
          </a:solidFill>
          <a:ln/>
        </p:spPr>
      </p:sp>
      <p:sp>
        <p:nvSpPr>
          <p:cNvPr id="43" name="Text 41"/>
          <p:cNvSpPr/>
          <p:nvPr/>
        </p:nvSpPr>
        <p:spPr>
          <a:xfrm>
            <a:off x="4675441" y="2141220"/>
            <a:ext cx="100355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695254" y="2446020"/>
            <a:ext cx="948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086858" y="2084832"/>
            <a:ext cx="1285492" cy="777240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46" name="Text 44"/>
          <p:cNvSpPr/>
          <p:nvPr/>
        </p:nvSpPr>
        <p:spPr>
          <a:xfrm>
            <a:off x="6213347" y="2141220"/>
            <a:ext cx="1003554" cy="278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73165" y="2446020"/>
            <a:ext cx="9486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91425" y="2084832"/>
            <a:ext cx="1278255" cy="77724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9" name="Text 47"/>
          <p:cNvSpPr/>
          <p:nvPr/>
        </p:nvSpPr>
        <p:spPr>
          <a:xfrm>
            <a:off x="7719630" y="2103120"/>
            <a:ext cx="1003554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662102" y="2419350"/>
            <a:ext cx="1189290" cy="424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Train/Test Split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15612" y="3086100"/>
            <a:ext cx="1323212" cy="7589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2" name="Text 50"/>
          <p:cNvSpPr/>
          <p:nvPr/>
        </p:nvSpPr>
        <p:spPr>
          <a:xfrm>
            <a:off x="4667822" y="3113532"/>
            <a:ext cx="100355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43044" y="3401568"/>
            <a:ext cx="123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10-Fold Comparison</a:t>
            </a:r>
          </a:p>
        </p:txBody>
      </p:sp>
      <p:sp>
        <p:nvSpPr>
          <p:cNvPr id="54" name="Shape 52"/>
          <p:cNvSpPr/>
          <p:nvPr/>
        </p:nvSpPr>
        <p:spPr>
          <a:xfrm>
            <a:off x="6100190" y="3081528"/>
            <a:ext cx="1264921" cy="763524"/>
          </a:xfrm>
          <a:prstGeom prst="rect">
            <a:avLst/>
          </a:prstGeom>
          <a:solidFill>
            <a:srgbClr val="0EA5A5"/>
          </a:solidFill>
          <a:ln/>
        </p:spPr>
      </p:sp>
      <p:sp>
        <p:nvSpPr>
          <p:cNvPr id="55" name="Text 53"/>
          <p:cNvSpPr/>
          <p:nvPr/>
        </p:nvSpPr>
        <p:spPr>
          <a:xfrm>
            <a:off x="6191631" y="3108198"/>
            <a:ext cx="10035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110859" y="3385185"/>
            <a:ext cx="1237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591424" y="3082290"/>
            <a:ext cx="1259967" cy="763524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58" name="Text 56"/>
          <p:cNvSpPr/>
          <p:nvPr/>
        </p:nvSpPr>
        <p:spPr>
          <a:xfrm>
            <a:off x="7711248" y="3100578"/>
            <a:ext cx="100355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574661" y="3434334"/>
            <a:ext cx="127672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on Training Data</a:t>
            </a:r>
            <a:endParaRPr lang="en-US" sz="11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543044" y="4064508"/>
            <a:ext cx="1295780" cy="76352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1" name="Text 59"/>
          <p:cNvSpPr/>
          <p:nvPr/>
        </p:nvSpPr>
        <p:spPr>
          <a:xfrm>
            <a:off x="4675441" y="4064508"/>
            <a:ext cx="1003554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53711" y="4352544"/>
            <a:ext cx="131597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 parameter Tuning – Best Model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100190" y="4055364"/>
            <a:ext cx="1272159" cy="76352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4" name="Text 62"/>
          <p:cNvSpPr/>
          <p:nvPr/>
        </p:nvSpPr>
        <p:spPr>
          <a:xfrm>
            <a:off x="6227827" y="4035171"/>
            <a:ext cx="10035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127622" y="4332732"/>
            <a:ext cx="1206627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/ New Student Prediction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8" name="Text 66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12,469 rows × 14 features  |  Train: 9,975 rows  |  Test: 2,494 rows  </a:t>
            </a:r>
            <a:endParaRPr lang="en-US" sz="750" dirty="0"/>
          </a:p>
        </p:txBody>
      </p:sp>
      <p:sp>
        <p:nvSpPr>
          <p:cNvPr id="71" name="Right Arrow 70"/>
          <p:cNvSpPr/>
          <p:nvPr/>
        </p:nvSpPr>
        <p:spPr>
          <a:xfrm>
            <a:off x="5871017" y="2482596"/>
            <a:ext cx="193171" cy="154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ight Arrow 71"/>
          <p:cNvSpPr/>
          <p:nvPr/>
        </p:nvSpPr>
        <p:spPr>
          <a:xfrm>
            <a:off x="7396262" y="2500503"/>
            <a:ext cx="187734" cy="1474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Right Arrow 72"/>
          <p:cNvSpPr/>
          <p:nvPr/>
        </p:nvSpPr>
        <p:spPr>
          <a:xfrm flipH="1">
            <a:off x="7374350" y="3417951"/>
            <a:ext cx="178495" cy="1333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Right Arrow 76"/>
          <p:cNvSpPr/>
          <p:nvPr/>
        </p:nvSpPr>
        <p:spPr>
          <a:xfrm flipH="1">
            <a:off x="5869685" y="3457956"/>
            <a:ext cx="178495" cy="1333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ight Arrow 77"/>
          <p:cNvSpPr/>
          <p:nvPr/>
        </p:nvSpPr>
        <p:spPr>
          <a:xfrm>
            <a:off x="5880352" y="4367022"/>
            <a:ext cx="193171" cy="154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Down Arrow 78"/>
          <p:cNvSpPr/>
          <p:nvPr/>
        </p:nvSpPr>
        <p:spPr>
          <a:xfrm>
            <a:off x="8203597" y="2883027"/>
            <a:ext cx="106299" cy="1645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Down Arrow 79"/>
          <p:cNvSpPr/>
          <p:nvPr/>
        </p:nvSpPr>
        <p:spPr>
          <a:xfrm>
            <a:off x="5116449" y="3865626"/>
            <a:ext cx="106299" cy="1645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Evolution: Baseline to Boosting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176559" y="768096"/>
            <a:ext cx="1664208" cy="1783080"/>
          </a:xfrm>
          <a:prstGeom prst="rect">
            <a:avLst/>
          </a:prstGeom>
          <a:solidFill>
            <a:srgbClr val="E5E7EB"/>
          </a:solidFill>
          <a:ln w="6350">
            <a:solidFill>
              <a:schemeClr val="tx2">
                <a:lumMod val="40000"/>
                <a:lumOff val="60000"/>
              </a:schemeClr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76559" y="8412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1423" y="13167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92906" y="1572768"/>
            <a:ext cx="1231514" cy="21945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1473738" y="1572768"/>
            <a:ext cx="115068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49711" y="1828800"/>
            <a:ext cx="1517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linear baseline. Establishes the minimum bar every other model must beat.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26180" y="786384"/>
            <a:ext cx="1664208" cy="1783080"/>
          </a:xfrm>
          <a:prstGeom prst="rect">
            <a:avLst/>
          </a:prstGeom>
          <a:solidFill>
            <a:srgbClr val="D1FAE5"/>
          </a:solidFill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26180" y="859536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81044" y="13350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42527" y="1591056"/>
            <a:ext cx="1231514" cy="21945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4016883" y="1591056"/>
            <a:ext cx="11571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Regularised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99332" y="1847088"/>
            <a:ext cx="1517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L2-regularised linear model. Tests whether penalising large coefficients helps.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88024" y="768096"/>
            <a:ext cx="1664208" cy="1783080"/>
          </a:xfrm>
          <a:prstGeom prst="rect">
            <a:avLst/>
          </a:prstGeom>
          <a:solidFill>
            <a:srgbClr val="FEF3C7"/>
          </a:solidFill>
          <a:ln w="6350">
            <a:solidFill>
              <a:schemeClr val="accent4">
                <a:lumMod val="60000"/>
                <a:lumOff val="40000"/>
              </a:schemeClr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88024" y="84124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🌳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42888" y="13167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04371" y="1572768"/>
            <a:ext cx="1231514" cy="219456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1" name="Text 19"/>
          <p:cNvSpPr/>
          <p:nvPr/>
        </p:nvSpPr>
        <p:spPr>
          <a:xfrm>
            <a:off x="6572249" y="1572768"/>
            <a:ext cx="11636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(Bagging)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61176" y="1828800"/>
            <a:ext cx="1517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Bagged decision trees. Averages many trees to reduce variance.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99198" y="3012186"/>
            <a:ext cx="1664208" cy="1783080"/>
          </a:xfrm>
          <a:prstGeom prst="rect">
            <a:avLst/>
          </a:prstGeom>
          <a:solidFill>
            <a:srgbClr val="CCFBF1"/>
          </a:solidFill>
          <a:ln w="6350">
            <a:solidFill>
              <a:schemeClr val="accent6">
                <a:lumMod val="40000"/>
                <a:lumOff val="60000"/>
              </a:schemeClr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299198" y="3085338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354062" y="356082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515545" y="3816858"/>
            <a:ext cx="1231514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2624571" y="3816858"/>
            <a:ext cx="9620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372350" y="4072890"/>
            <a:ext cx="1517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randomised trees. Full-data training + random split thresholds — won this comparison.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27655" y="2993898"/>
            <a:ext cx="1664208" cy="1783080"/>
          </a:xfrm>
          <a:prstGeom prst="rect">
            <a:avLst/>
          </a:prstGeom>
          <a:solidFill>
            <a:srgbClr val="DBEAFE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27655" y="306705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982519" y="354253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44002" y="3798570"/>
            <a:ext cx="1231514" cy="2194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5174040" y="3816858"/>
            <a:ext cx="12014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(Boosting)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00807" y="4054602"/>
            <a:ext cx="151790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with regularisation. Tests the boosting paradigm.</a:t>
            </a:r>
            <a:endParaRPr lang="en-US" sz="1000" dirty="0"/>
          </a:p>
        </p:txBody>
      </p:sp>
      <p:sp>
        <p:nvSpPr>
          <p:cNvPr id="39" name="Shape 6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0" name="Text 62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</a:t>
            </a:r>
            <a:r>
              <a:rPr lang="en-US" sz="75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from baseline to advanced ensemble methods to identify the most robust predictor.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849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Hyperparameter Tuning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CV Leaderboard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155448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875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0" y="987552"/>
            <a:ext cx="82296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987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MAE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51760" y="987552"/>
            <a:ext cx="9144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987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RMSE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66160" y="987552"/>
            <a:ext cx="86868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9875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261872"/>
            <a:ext cx="1554480" cy="2926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61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Extra Trees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828800" y="1261872"/>
            <a:ext cx="822960" cy="2926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12618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4.998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651760" y="1261872"/>
            <a:ext cx="914400" cy="2926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12618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8.314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566160" y="1261872"/>
            <a:ext cx="868680" cy="2926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12618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0.778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74320" y="1554480"/>
            <a:ext cx="15544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554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1828800" y="1554480"/>
            <a:ext cx="82296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1554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5.504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651760" y="1554480"/>
            <a:ext cx="91440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15544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8.588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3566160" y="1554480"/>
            <a:ext cx="8686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15544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0.764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74320" y="1847088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1847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1828800" y="184708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1847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9.442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651760" y="1847088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1760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12.047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3566160" y="1847088"/>
            <a:ext cx="868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18470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0.535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274320" y="2139696"/>
            <a:ext cx="15544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1396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8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</a:t>
            </a: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828800" y="2139696"/>
            <a:ext cx="82296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0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15.319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2651760" y="2139696"/>
            <a:ext cx="91440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2139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17.683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3566160" y="2139696"/>
            <a:ext cx="8686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6160" y="213969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−0.002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74320" y="2432304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4323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88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1828800" y="2432304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0" y="24323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15.319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2651760" y="2432304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51760" y="2432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17.683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3566160" y="2432304"/>
            <a:ext cx="8686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0" y="24323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−0.002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4480560" y="1518072"/>
            <a:ext cx="4583526" cy="1206840"/>
          </a:xfrm>
          <a:prstGeom prst="rect">
            <a:avLst/>
          </a:prstGeom>
          <a:solidFill>
            <a:srgbClr val="112240"/>
          </a:solidFill>
          <a:ln/>
        </p:spPr>
      </p:sp>
      <p:sp>
        <p:nvSpPr>
          <p:cNvPr id="55" name="Text 53"/>
          <p:cNvSpPr/>
          <p:nvPr/>
        </p:nvSpPr>
        <p:spPr>
          <a:xfrm>
            <a:off x="4766406" y="1592257"/>
            <a:ext cx="3904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Tuning — Extra Trees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553236" y="1830624"/>
            <a:ext cx="43919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 parameter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performed using GridSearchCV (90 total model evaluations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000" b="1" dirty="0" smtClean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                :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n_estimators[100,200,300] × max_depth[None,10,20] 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min_samples_split[2,5]</a:t>
            </a:r>
            <a:endParaRPr lang="en-US" sz="1000" b="1" dirty="0" smtClean="0">
              <a:solidFill>
                <a:srgbClr val="CBD5E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   : </a:t>
            </a: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n_estimators=300, max_depth=None, min_samples_split=2</a:t>
            </a:r>
            <a:endParaRPr lang="en-US" sz="1000" b="1" dirty="0"/>
          </a:p>
          <a:p>
            <a:pPr marL="0" indent="0">
              <a:buNone/>
            </a:pPr>
            <a:r>
              <a:rPr lang="en-US" sz="1000" b="1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           : </a:t>
            </a:r>
            <a:r>
              <a:rPr lang="en-US" sz="1000" b="1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neg_mean_squared_error</a:t>
            </a:r>
            <a:endParaRPr lang="en-US" sz="1000" b="1" dirty="0"/>
          </a:p>
        </p:txBody>
      </p:sp>
      <p:sp>
        <p:nvSpPr>
          <p:cNvPr id="57" name="Shape 55"/>
          <p:cNvSpPr/>
          <p:nvPr/>
        </p:nvSpPr>
        <p:spPr>
          <a:xfrm>
            <a:off x="4480560" y="687699"/>
            <a:ext cx="4572952" cy="738581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99432" y="73152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</a:t>
            </a:r>
            <a:r>
              <a:rPr lang="en-US" sz="900" b="1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617720" y="864415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Trees </a:t>
            </a:r>
            <a:r>
              <a:rPr lang="en-US" sz="1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 (Tuned)</a:t>
            </a:r>
            <a:r>
              <a:rPr lang="en-US" i="1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4662964" y="1087194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 = 7.34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10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 = 4.10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= 0.829</a:t>
            </a:r>
            <a:endParaRPr lang="en-US" sz="1050" dirty="0"/>
          </a:p>
        </p:txBody>
      </p:sp>
      <p:sp>
        <p:nvSpPr>
          <p:cNvPr id="64" name="Shape 6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5" name="Text 62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</a:t>
            </a: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Extra Trees (Tuned via GridSearchCV)  |  All CV metrics are 10-fold cross_val_score() outputs on the training set  |  Test metrics from held-out 20% test set</a:t>
            </a:r>
            <a:endParaRPr lang="en-US" sz="750" dirty="0"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31" y="2759119"/>
            <a:ext cx="8832681" cy="213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57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5577840" y="749808"/>
            <a:ext cx="3337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Top Predictors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1097280"/>
            <a:ext cx="3337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1097280"/>
            <a:ext cx="475488" cy="694944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7840" y="1097280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26480" y="115214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93B"/>
                </a:solidFill>
              </a:rPr>
              <a:t>AssignmentCompletion  </a:t>
            </a:r>
            <a:r>
              <a:rPr lang="en-US" sz="1100" b="1" dirty="0" smtClean="0">
                <a:solidFill>
                  <a:srgbClr val="0EA5A5"/>
                </a:solidFill>
              </a:rPr>
              <a:t>15.04%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26480" y="1426464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/>
              <a:t>Regular attendance showed the highest impact on exam performance.</a:t>
            </a:r>
          </a:p>
        </p:txBody>
      </p:sp>
      <p:sp>
        <p:nvSpPr>
          <p:cNvPr id="12" name="Shape 9"/>
          <p:cNvSpPr/>
          <p:nvPr/>
        </p:nvSpPr>
        <p:spPr>
          <a:xfrm>
            <a:off x="5577840" y="1860804"/>
            <a:ext cx="3337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860804"/>
            <a:ext cx="475488" cy="694944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7840" y="1860804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26480" y="19156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E293B"/>
                </a:solidFill>
              </a:rPr>
              <a:t>Attendance  </a:t>
            </a:r>
            <a:r>
              <a:rPr lang="en-US" sz="1100" b="1" dirty="0" smtClean="0">
                <a:solidFill>
                  <a:srgbClr val="0EA5A5"/>
                </a:solidFill>
              </a:rPr>
              <a:t>14.64%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26480" y="2189988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/>
              <a:t>Consistent assignment completion strongly influenced scores.</a:t>
            </a:r>
          </a:p>
        </p:txBody>
      </p:sp>
      <p:sp>
        <p:nvSpPr>
          <p:cNvPr id="17" name="Shape 14"/>
          <p:cNvSpPr/>
          <p:nvPr/>
        </p:nvSpPr>
        <p:spPr>
          <a:xfrm>
            <a:off x="5577840" y="2624328"/>
            <a:ext cx="3337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2624328"/>
            <a:ext cx="475488" cy="694944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77840" y="2624328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126480" y="26791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E293B"/>
                </a:solidFill>
              </a:rPr>
              <a:t>OnlineCourses </a:t>
            </a:r>
            <a:r>
              <a:rPr lang="en-US" sz="1200" b="1" dirty="0" smtClean="0">
                <a:solidFill>
                  <a:srgbClr val="1E293B"/>
                </a:solidFill>
              </a:rPr>
              <a:t> </a:t>
            </a:r>
            <a:r>
              <a:rPr lang="en-US" sz="1100" b="1" dirty="0" smtClean="0">
                <a:solidFill>
                  <a:srgbClr val="0EA5A5"/>
                </a:solidFill>
              </a:rPr>
              <a:t>14.48%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26480" y="2953512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/>
              <a:t>Higher study hours were associated with better performance.</a:t>
            </a:r>
          </a:p>
        </p:txBody>
      </p:sp>
      <p:sp>
        <p:nvSpPr>
          <p:cNvPr id="22" name="Shape 19"/>
          <p:cNvSpPr/>
          <p:nvPr/>
        </p:nvSpPr>
        <p:spPr>
          <a:xfrm>
            <a:off x="5577840" y="3387852"/>
            <a:ext cx="3337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577840" y="3387852"/>
            <a:ext cx="475488" cy="694944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3387852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126480" y="34427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E293B"/>
                </a:solidFill>
              </a:rPr>
              <a:t>StudyHours  </a:t>
            </a:r>
            <a:r>
              <a:rPr lang="en-US" sz="1100" b="1" dirty="0" smtClean="0">
                <a:solidFill>
                  <a:srgbClr val="0EA5A5"/>
                </a:solidFill>
              </a:rPr>
              <a:t>13.33%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126480" y="3717036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/>
              <a:t>Participation in online courses positively contributed to scores.</a:t>
            </a:r>
          </a:p>
        </p:txBody>
      </p:sp>
      <p:sp>
        <p:nvSpPr>
          <p:cNvPr id="27" name="Shape 24"/>
          <p:cNvSpPr/>
          <p:nvPr/>
        </p:nvSpPr>
        <p:spPr>
          <a:xfrm>
            <a:off x="5577840" y="4151376"/>
            <a:ext cx="333756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889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577840" y="4151376"/>
            <a:ext cx="475488" cy="694944"/>
          </a:xfrm>
          <a:prstGeom prst="rect">
            <a:avLst/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77840" y="4151376"/>
            <a:ext cx="4754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#5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26480" y="42062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Age  </a:t>
            </a:r>
            <a:r>
              <a:rPr lang="en-US" sz="1100" b="1" dirty="0" smtClean="0">
                <a:solidFill>
                  <a:srgbClr val="0EA5A5"/>
                </a:solidFill>
              </a:rPr>
              <a:t>13.26%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126480" y="4480560"/>
            <a:ext cx="2724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/>
              <a:t>Age showed moderate influence on learning patterns and outcomes.</a:t>
            </a:r>
          </a:p>
        </p:txBody>
      </p:sp>
      <p:sp>
        <p:nvSpPr>
          <p:cNvPr id="32" name="Shape 2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493776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CBD5E1"/>
                </a:solidFill>
              </a:rPr>
              <a:t>📌  </a:t>
            </a:r>
            <a:r>
              <a:rPr lang="en-US" sz="900" i="1" dirty="0" smtClean="0">
                <a:solidFill>
                  <a:srgbClr val="CBD5E1"/>
                </a:solidFill>
              </a:rPr>
              <a:t>Feature </a:t>
            </a:r>
            <a:r>
              <a:rPr lang="en-US" sz="900" i="1" dirty="0">
                <a:solidFill>
                  <a:srgbClr val="CBD5E1"/>
                </a:solidFill>
              </a:rPr>
              <a:t>importance derived from the tuned Extra Trees model highlights the strongest predictors influencing student exam performance..</a:t>
            </a:r>
            <a:endParaRPr lang="en-US" sz="9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7" y="1097280"/>
            <a:ext cx="5106413" cy="3533086"/>
          </a:xfrm>
          <a:prstGeom prst="rect">
            <a:avLst/>
          </a:prstGeom>
        </p:spPr>
      </p:pic>
      <p:sp>
        <p:nvSpPr>
          <p:cNvPr id="36" name="Shape 1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7" name="Text 2"/>
          <p:cNvSpPr/>
          <p:nvPr/>
        </p:nvSpPr>
        <p:spPr>
          <a:xfrm>
            <a:off x="292608" y="0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Key Predictors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90210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8048" y="-13849"/>
            <a:ext cx="9192048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-48048" y="0"/>
            <a:ext cx="9192048" cy="585216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92608" y="0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- Predicting a New Student’s Score</a:t>
            </a:r>
          </a:p>
        </p:txBody>
      </p:sp>
      <p:sp>
        <p:nvSpPr>
          <p:cNvPr id="5" name="Text 3"/>
          <p:cNvSpPr/>
          <p:nvPr/>
        </p:nvSpPr>
        <p:spPr>
          <a:xfrm>
            <a:off x="274320" y="89493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Student Profile: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1554480"/>
            <a:ext cx="155448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554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28800" y="1554480"/>
            <a:ext cx="82296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15544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74320" y="1847088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18470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1828800" y="184708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1847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274320" y="2139696"/>
            <a:ext cx="1554480" cy="29260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139696"/>
            <a:ext cx="1554480" cy="292608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Extracurricular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828800" y="2139696"/>
            <a:ext cx="82296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0" y="21396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74320" y="2432304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4323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1828800" y="2432304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0" y="24323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64" name="Shape 61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5" name="Text 62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outcomes can help identify at-risk students early and guide timely interventions.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75" name="Shape 28"/>
          <p:cNvSpPr/>
          <p:nvPr/>
        </p:nvSpPr>
        <p:spPr>
          <a:xfrm>
            <a:off x="274320" y="3017520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76" name="Shape 30"/>
          <p:cNvSpPr/>
          <p:nvPr/>
        </p:nvSpPr>
        <p:spPr>
          <a:xfrm>
            <a:off x="1828800" y="3026768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80" name="Shape 28"/>
          <p:cNvSpPr/>
          <p:nvPr/>
        </p:nvSpPr>
        <p:spPr>
          <a:xfrm>
            <a:off x="268676" y="1260939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81" name="Shape 30"/>
          <p:cNvSpPr/>
          <p:nvPr/>
        </p:nvSpPr>
        <p:spPr>
          <a:xfrm>
            <a:off x="1828800" y="1260939"/>
            <a:ext cx="831568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87" name="Shape 40"/>
          <p:cNvSpPr/>
          <p:nvPr/>
        </p:nvSpPr>
        <p:spPr>
          <a:xfrm>
            <a:off x="1828800" y="2724912"/>
            <a:ext cx="82296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88" name="Shape 40"/>
          <p:cNvSpPr/>
          <p:nvPr/>
        </p:nvSpPr>
        <p:spPr>
          <a:xfrm>
            <a:off x="274320" y="2731008"/>
            <a:ext cx="155448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90" name="Shape 22"/>
          <p:cNvSpPr/>
          <p:nvPr/>
        </p:nvSpPr>
        <p:spPr>
          <a:xfrm>
            <a:off x="5215044" y="1556296"/>
            <a:ext cx="82296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91" name="Shape 28"/>
          <p:cNvSpPr/>
          <p:nvPr/>
        </p:nvSpPr>
        <p:spPr>
          <a:xfrm>
            <a:off x="3674816" y="1848904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92" name="Shape 30"/>
          <p:cNvSpPr/>
          <p:nvPr/>
        </p:nvSpPr>
        <p:spPr>
          <a:xfrm>
            <a:off x="5229296" y="1848904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93" name="Shape 36"/>
          <p:cNvSpPr/>
          <p:nvPr/>
        </p:nvSpPr>
        <p:spPr>
          <a:xfrm>
            <a:off x="3674816" y="2141512"/>
            <a:ext cx="155448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94" name="Shape 38"/>
          <p:cNvSpPr/>
          <p:nvPr/>
        </p:nvSpPr>
        <p:spPr>
          <a:xfrm>
            <a:off x="5229296" y="2141512"/>
            <a:ext cx="82296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95" name="Shape 44"/>
          <p:cNvSpPr/>
          <p:nvPr/>
        </p:nvSpPr>
        <p:spPr>
          <a:xfrm>
            <a:off x="3674816" y="2434120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96" name="Shape 46"/>
          <p:cNvSpPr/>
          <p:nvPr/>
        </p:nvSpPr>
        <p:spPr>
          <a:xfrm>
            <a:off x="5229296" y="2434120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97" name="Shape 28"/>
          <p:cNvSpPr/>
          <p:nvPr/>
        </p:nvSpPr>
        <p:spPr>
          <a:xfrm>
            <a:off x="282928" y="3602736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98" name="Shape 30"/>
          <p:cNvSpPr/>
          <p:nvPr/>
        </p:nvSpPr>
        <p:spPr>
          <a:xfrm>
            <a:off x="1846016" y="3608832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101" name="Shape 40"/>
          <p:cNvSpPr/>
          <p:nvPr/>
        </p:nvSpPr>
        <p:spPr>
          <a:xfrm>
            <a:off x="1837408" y="3310128"/>
            <a:ext cx="82296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102" name="Shape 40"/>
          <p:cNvSpPr/>
          <p:nvPr/>
        </p:nvSpPr>
        <p:spPr>
          <a:xfrm>
            <a:off x="282928" y="3316224"/>
            <a:ext cx="155448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103" name="Shape 20"/>
          <p:cNvSpPr/>
          <p:nvPr/>
        </p:nvSpPr>
        <p:spPr>
          <a:xfrm>
            <a:off x="3683424" y="1561549"/>
            <a:ext cx="1554480" cy="292608"/>
          </a:xfrm>
          <a:prstGeom prst="rect">
            <a:avLst/>
          </a:prstGeom>
          <a:solidFill>
            <a:srgbClr val="F1F5F9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104" name="Shape 28"/>
          <p:cNvSpPr/>
          <p:nvPr/>
        </p:nvSpPr>
        <p:spPr>
          <a:xfrm>
            <a:off x="3683424" y="1260939"/>
            <a:ext cx="155448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105" name="Shape 30"/>
          <p:cNvSpPr/>
          <p:nvPr/>
        </p:nvSpPr>
        <p:spPr>
          <a:xfrm>
            <a:off x="5229296" y="1268300"/>
            <a:ext cx="822960" cy="292608"/>
          </a:xfrm>
          <a:prstGeom prst="rect">
            <a:avLst/>
          </a:prstGeom>
          <a:solidFill>
            <a:srgbClr val="FFFFFF"/>
          </a:solidFill>
          <a:ln w="6350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</p:sp>
      <p:sp>
        <p:nvSpPr>
          <p:cNvPr id="107" name="Text 29"/>
          <p:cNvSpPr/>
          <p:nvPr/>
        </p:nvSpPr>
        <p:spPr>
          <a:xfrm>
            <a:off x="1859103" y="1259457"/>
            <a:ext cx="792657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80" dirty="0"/>
          </a:p>
        </p:txBody>
      </p:sp>
      <p:sp>
        <p:nvSpPr>
          <p:cNvPr id="108" name="Text 29"/>
          <p:cNvSpPr/>
          <p:nvPr/>
        </p:nvSpPr>
        <p:spPr>
          <a:xfrm>
            <a:off x="268676" y="12557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StudyHours</a:t>
            </a:r>
            <a:endParaRPr lang="en-US" sz="880" dirty="0"/>
          </a:p>
        </p:txBody>
      </p:sp>
      <p:sp>
        <p:nvSpPr>
          <p:cNvPr id="109" name="Text 29"/>
          <p:cNvSpPr/>
          <p:nvPr/>
        </p:nvSpPr>
        <p:spPr>
          <a:xfrm>
            <a:off x="1837408" y="3004941"/>
            <a:ext cx="840176" cy="263823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50" dirty="0"/>
          </a:p>
        </p:txBody>
      </p:sp>
      <p:sp>
        <p:nvSpPr>
          <p:cNvPr id="110" name="Text 29"/>
          <p:cNvSpPr/>
          <p:nvPr/>
        </p:nvSpPr>
        <p:spPr>
          <a:xfrm>
            <a:off x="251460" y="2999886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880" dirty="0"/>
          </a:p>
        </p:txBody>
      </p:sp>
      <p:sp>
        <p:nvSpPr>
          <p:cNvPr id="111" name="Text 29"/>
          <p:cNvSpPr/>
          <p:nvPr/>
        </p:nvSpPr>
        <p:spPr>
          <a:xfrm>
            <a:off x="1849375" y="3611231"/>
            <a:ext cx="816564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112" name="Text 29"/>
          <p:cNvSpPr/>
          <p:nvPr/>
        </p:nvSpPr>
        <p:spPr>
          <a:xfrm>
            <a:off x="291123" y="3608832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LearningStyle</a:t>
            </a:r>
            <a:endParaRPr lang="en-US" sz="880" dirty="0"/>
          </a:p>
        </p:txBody>
      </p:sp>
      <p:sp>
        <p:nvSpPr>
          <p:cNvPr id="113" name="Text 29"/>
          <p:cNvSpPr/>
          <p:nvPr/>
        </p:nvSpPr>
        <p:spPr>
          <a:xfrm>
            <a:off x="5230459" y="1278911"/>
            <a:ext cx="807546" cy="277385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80" dirty="0"/>
          </a:p>
        </p:txBody>
      </p:sp>
      <p:sp>
        <p:nvSpPr>
          <p:cNvPr id="114" name="Text 29"/>
          <p:cNvSpPr/>
          <p:nvPr/>
        </p:nvSpPr>
        <p:spPr>
          <a:xfrm>
            <a:off x="3703323" y="1282805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OnlineCourses</a:t>
            </a:r>
            <a:endParaRPr lang="en-US" sz="880" dirty="0"/>
          </a:p>
        </p:txBody>
      </p:sp>
      <p:sp>
        <p:nvSpPr>
          <p:cNvPr id="115" name="Text 29"/>
          <p:cNvSpPr/>
          <p:nvPr/>
        </p:nvSpPr>
        <p:spPr>
          <a:xfrm>
            <a:off x="3688184" y="1836768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AssignmentCompletion</a:t>
            </a:r>
            <a:endParaRPr lang="en-US" sz="880" dirty="0"/>
          </a:p>
        </p:txBody>
      </p:sp>
      <p:sp>
        <p:nvSpPr>
          <p:cNvPr id="116" name="Text 29"/>
          <p:cNvSpPr/>
          <p:nvPr/>
        </p:nvSpPr>
        <p:spPr>
          <a:xfrm>
            <a:off x="5237904" y="1833916"/>
            <a:ext cx="801898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880" dirty="0"/>
          </a:p>
        </p:txBody>
      </p:sp>
      <p:sp>
        <p:nvSpPr>
          <p:cNvPr id="117" name="Text 29"/>
          <p:cNvSpPr/>
          <p:nvPr/>
        </p:nvSpPr>
        <p:spPr>
          <a:xfrm>
            <a:off x="3691061" y="2424962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StressLevel</a:t>
            </a:r>
            <a:endParaRPr lang="en-US" sz="880" dirty="0"/>
          </a:p>
        </p:txBody>
      </p:sp>
      <p:sp>
        <p:nvSpPr>
          <p:cNvPr id="118" name="Text 29"/>
          <p:cNvSpPr/>
          <p:nvPr/>
        </p:nvSpPr>
        <p:spPr>
          <a:xfrm>
            <a:off x="5266409" y="2418555"/>
            <a:ext cx="766391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119" name="Text 37"/>
          <p:cNvSpPr/>
          <p:nvPr/>
        </p:nvSpPr>
        <p:spPr>
          <a:xfrm>
            <a:off x="1862388" y="2712201"/>
            <a:ext cx="789372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120" name="Text 37"/>
          <p:cNvSpPr/>
          <p:nvPr/>
        </p:nvSpPr>
        <p:spPr>
          <a:xfrm>
            <a:off x="248496" y="27272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880" dirty="0"/>
          </a:p>
        </p:txBody>
      </p:sp>
      <p:sp>
        <p:nvSpPr>
          <p:cNvPr id="121" name="Text 37"/>
          <p:cNvSpPr/>
          <p:nvPr/>
        </p:nvSpPr>
        <p:spPr>
          <a:xfrm>
            <a:off x="278624" y="3323149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880" dirty="0"/>
          </a:p>
        </p:txBody>
      </p:sp>
      <p:sp>
        <p:nvSpPr>
          <p:cNvPr id="122" name="Text 37"/>
          <p:cNvSpPr/>
          <p:nvPr/>
        </p:nvSpPr>
        <p:spPr>
          <a:xfrm>
            <a:off x="1874520" y="3272969"/>
            <a:ext cx="811672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88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80" dirty="0"/>
          </a:p>
        </p:txBody>
      </p:sp>
      <p:sp>
        <p:nvSpPr>
          <p:cNvPr id="123" name="Text 37"/>
          <p:cNvSpPr/>
          <p:nvPr/>
        </p:nvSpPr>
        <p:spPr>
          <a:xfrm>
            <a:off x="3711929" y="2143328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EduTech</a:t>
            </a:r>
            <a:endParaRPr lang="en-US" sz="880" dirty="0"/>
          </a:p>
        </p:txBody>
      </p:sp>
      <p:sp>
        <p:nvSpPr>
          <p:cNvPr id="124" name="Text 37"/>
          <p:cNvSpPr/>
          <p:nvPr/>
        </p:nvSpPr>
        <p:spPr>
          <a:xfrm>
            <a:off x="3708612" y="15355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ctr"/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Discussions</a:t>
            </a:r>
            <a:endParaRPr lang="en-US" sz="880" dirty="0"/>
          </a:p>
        </p:txBody>
      </p:sp>
      <p:sp>
        <p:nvSpPr>
          <p:cNvPr id="125" name="Text 37"/>
          <p:cNvSpPr/>
          <p:nvPr/>
        </p:nvSpPr>
        <p:spPr>
          <a:xfrm>
            <a:off x="5252156" y="1545920"/>
            <a:ext cx="785849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80" dirty="0"/>
          </a:p>
        </p:txBody>
      </p:sp>
      <p:sp>
        <p:nvSpPr>
          <p:cNvPr id="126" name="Text 37"/>
          <p:cNvSpPr/>
          <p:nvPr/>
        </p:nvSpPr>
        <p:spPr>
          <a:xfrm>
            <a:off x="5209842" y="2123465"/>
            <a:ext cx="816150" cy="292608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129" name="Shape 12"/>
          <p:cNvSpPr/>
          <p:nvPr/>
        </p:nvSpPr>
        <p:spPr>
          <a:xfrm>
            <a:off x="3134960" y="3452008"/>
            <a:ext cx="4861176" cy="395253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0" name="Text 13"/>
          <p:cNvSpPr/>
          <p:nvPr/>
        </p:nvSpPr>
        <p:spPr>
          <a:xfrm>
            <a:off x="3134960" y="3414550"/>
            <a:ext cx="4861176" cy="395253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1100" b="1" dirty="0" smtClean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★ Predicted ExamScore (Tuned Extra Trees) : 58.00</a:t>
            </a:r>
            <a:endParaRPr lang="en-US" sz="1100" dirty="0"/>
          </a:p>
        </p:txBody>
      </p:sp>
      <p:sp>
        <p:nvSpPr>
          <p:cNvPr id="133" name="Text 3"/>
          <p:cNvSpPr/>
          <p:nvPr/>
        </p:nvSpPr>
        <p:spPr>
          <a:xfrm>
            <a:off x="3129582" y="310980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Prediction: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43426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85216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292608" y="0"/>
            <a:ext cx="85587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Other Comments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2926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749808"/>
            <a:ext cx="3941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133856"/>
            <a:ext cx="3977640" cy="1946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
</a:t>
            </a:r>
            <a:endParaRPr lang="en-US" sz="1000" dirty="0"/>
          </a:p>
          <a:p>
            <a:r>
              <a:rPr lang="en-US" sz="9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"Student Performance and Learning Behavior Dataset" </a:t>
            </a:r>
            <a:r>
              <a:rPr lang="en-US" sz="9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30" dirty="0"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https://www.kaggle.com/datasets/adilshamim8/student-performance-and-learning-style</a:t>
            </a:r>
            <a:r>
              <a:rPr lang="en-US" sz="93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9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Libraries / Tools Used
</a:t>
            </a:r>
            <a:endParaRPr lang="en-US" sz="1000" dirty="0"/>
          </a:p>
          <a:p>
            <a:pPr marL="0" indent="0">
              <a:buNone/>
            </a:pPr>
            <a:r>
              <a:rPr lang="en-US" sz="9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Pandas · NumPy · Matplotlib</a:t>
            </a:r>
            <a:endParaRPr lang="en-US" sz="1000" dirty="0"/>
          </a:p>
          <a:p>
            <a:pPr marL="0" indent="0">
              <a:buNone/>
            </a:pPr>
            <a:r>
              <a:rPr lang="en-US" sz="9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(LinearRegression, Ridge, RandomForestRegressor, ExtraTreesRegressor)</a:t>
            </a:r>
            <a:endParaRPr lang="en-US" sz="1000" dirty="0"/>
          </a:p>
          <a:p>
            <a:pPr marL="0" indent="0">
              <a:buNone/>
            </a:pPr>
            <a:r>
              <a:rPr lang="en-US" sz="9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XGBoost (XGBRegressor)</a:t>
            </a:r>
            <a:endParaRPr lang="en-US" sz="1000" dirty="0"/>
          </a:p>
          <a:p>
            <a:pPr marL="0" indent="0">
              <a:buNone/>
            </a:pPr>
            <a:r>
              <a:rPr lang="en-US" sz="93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GridSearchCV, cross_val_score, StandardScaler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3712" y="749808"/>
            <a:ext cx="4315968" cy="2926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749808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53712" y="1152144"/>
            <a:ext cx="4315968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53712" y="1152144"/>
            <a:ext cx="64008" cy="5852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00016" y="11978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Real-Time Dashboard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718304" y="1408176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/>
              <a:t>Build an interactive Flask app for teachers to predict individual student scores in real time.</a:t>
            </a:r>
          </a:p>
        </p:txBody>
      </p:sp>
      <p:sp>
        <p:nvSpPr>
          <p:cNvPr id="17" name="Shape 15"/>
          <p:cNvSpPr/>
          <p:nvPr/>
        </p:nvSpPr>
        <p:spPr>
          <a:xfrm>
            <a:off x="4553712" y="1840896"/>
            <a:ext cx="431596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53712" y="1852326"/>
            <a:ext cx="54864" cy="555498"/>
          </a:xfrm>
          <a:prstGeom prst="rect">
            <a:avLst/>
          </a:prstGeom>
          <a:solidFill>
            <a:srgbClr val="0E9E8B"/>
          </a:solidFill>
          <a:ln/>
        </p:spPr>
      </p:sp>
      <p:sp>
        <p:nvSpPr>
          <p:cNvPr id="19" name="Text 17"/>
          <p:cNvSpPr/>
          <p:nvPr/>
        </p:nvSpPr>
        <p:spPr>
          <a:xfrm>
            <a:off x="4700016" y="1888521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Early Warning System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700016" y="211655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/>
              <a:t>Alert system that flags students at risk of scoring below threshold before exams — enabling proactive support.</a:t>
            </a:r>
          </a:p>
        </p:txBody>
      </p:sp>
      <p:sp>
        <p:nvSpPr>
          <p:cNvPr id="21" name="Shape 19"/>
          <p:cNvSpPr/>
          <p:nvPr/>
        </p:nvSpPr>
        <p:spPr>
          <a:xfrm>
            <a:off x="4553712" y="2513458"/>
            <a:ext cx="4315968" cy="566928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53712" y="2513458"/>
            <a:ext cx="4572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718304" y="2558035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SHAP Explainability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4709160" y="2755774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/>
              <a:t>Integrate SHAP values for granular, per-student feature attribution and model interpretability.</a:t>
            </a:r>
          </a:p>
        </p:txBody>
      </p:sp>
      <p:sp>
        <p:nvSpPr>
          <p:cNvPr id="25" name="Shape 23"/>
          <p:cNvSpPr/>
          <p:nvPr/>
        </p:nvSpPr>
        <p:spPr>
          <a:xfrm>
            <a:off x="4535424" y="3177638"/>
            <a:ext cx="4315968" cy="59512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44568" y="3177638"/>
            <a:ext cx="54864" cy="59512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32225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Multi-Subject Extension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4690872" y="345195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/>
              <a:t>Extend model to predict scores across multiple subjects using subject-specific feature engineering.</a:t>
            </a:r>
          </a:p>
        </p:txBody>
      </p:sp>
      <p:sp>
        <p:nvSpPr>
          <p:cNvPr id="29" name="Shape 2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182880" y="4974336"/>
            <a:ext cx="877824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5" name="Text 5"/>
          <p:cNvSpPr/>
          <p:nvPr/>
        </p:nvSpPr>
        <p:spPr>
          <a:xfrm>
            <a:off x="347472" y="3132681"/>
            <a:ext cx="3941064" cy="1067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3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4992624"/>
            <a:ext cx="9144000" cy="64008"/>
          </a:xfrm>
          <a:prstGeom prst="rect">
            <a:avLst/>
          </a:prstGeom>
          <a:solidFill>
            <a:srgbClr val="0E9E8B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056632"/>
            <a:ext cx="9144000" cy="411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Shape 2"/>
          <p:cNvSpPr/>
          <p:nvPr/>
        </p:nvSpPr>
        <p:spPr>
          <a:xfrm>
            <a:off x="3200400" y="914400"/>
            <a:ext cx="2743200" cy="27432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0" name="Text 3"/>
          <p:cNvSpPr/>
          <p:nvPr/>
        </p:nvSpPr>
        <p:spPr>
          <a:xfrm>
            <a:off x="457200" y="900684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21" name="Text 4"/>
          <p:cNvSpPr/>
          <p:nvPr/>
        </p:nvSpPr>
        <p:spPr>
          <a:xfrm>
            <a:off x="457200" y="19004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4B8A6"/>
                </a:solidFill>
              </a:rPr>
              <a:t>for your time and evaluation</a:t>
            </a:r>
            <a:endParaRPr lang="en-US" sz="1800" dirty="0"/>
          </a:p>
        </p:txBody>
      </p:sp>
      <p:sp>
        <p:nvSpPr>
          <p:cNvPr id="22" name="Shape 5"/>
          <p:cNvSpPr/>
          <p:nvPr/>
        </p:nvSpPr>
        <p:spPr>
          <a:xfrm>
            <a:off x="2371725" y="2478405"/>
            <a:ext cx="45720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3" name="Text 6"/>
          <p:cNvSpPr/>
          <p:nvPr/>
        </p:nvSpPr>
        <p:spPr>
          <a:xfrm>
            <a:off x="542925" y="285673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</a:rPr>
              <a:t>Student Exam Score Prediction</a:t>
            </a:r>
            <a:endParaRPr lang="en-US" sz="1600" dirty="0"/>
          </a:p>
        </p:txBody>
      </p:sp>
      <p:sp>
        <p:nvSpPr>
          <p:cNvPr id="24" name="Text 7"/>
          <p:cNvSpPr/>
          <p:nvPr/>
        </p:nvSpPr>
        <p:spPr>
          <a:xfrm>
            <a:off x="914400" y="3334893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🎓  Capstone Project — PG Applied Data Science &amp; AI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1000125" y="37947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</a:rPr>
              <a:t>📊  Dataset: Kaggle — Student Performance &amp; Learning Behavior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914400" y="42260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CBD5E1"/>
                </a:solidFill>
              </a:rPr>
              <a:t>5</a:t>
            </a:r>
            <a:r>
              <a:rPr lang="en-US" sz="1200" dirty="0" smtClean="0">
                <a:solidFill>
                  <a:srgbClr val="CBD5E1"/>
                </a:solidFill>
              </a:rPr>
              <a:t> </a:t>
            </a:r>
            <a:r>
              <a:rPr lang="en-US" sz="1200" dirty="0">
                <a:solidFill>
                  <a:srgbClr val="CBD5E1"/>
                </a:solidFill>
              </a:rPr>
              <a:t>Models | Best: </a:t>
            </a:r>
            <a:r>
              <a:rPr lang="en-US" sz="1200" dirty="0" smtClean="0">
                <a:solidFill>
                  <a:srgbClr val="CBD5E1"/>
                </a:solidFill>
              </a:rPr>
              <a:t>Extra Trees| </a:t>
            </a:r>
            <a:r>
              <a:rPr lang="en-US" sz="1200" dirty="0">
                <a:solidFill>
                  <a:srgbClr val="CBD5E1"/>
                </a:solidFill>
              </a:rPr>
              <a:t>RMSE = </a:t>
            </a:r>
            <a:r>
              <a:rPr lang="en-US" sz="1200" dirty="0" smtClean="0">
                <a:solidFill>
                  <a:srgbClr val="CBD5E1"/>
                </a:solidFill>
              </a:rPr>
              <a:t>7.34 | </a:t>
            </a:r>
            <a:r>
              <a:rPr lang="en-US" sz="1200" dirty="0">
                <a:solidFill>
                  <a:srgbClr val="CBD5E1"/>
                </a:solidFill>
              </a:rPr>
              <a:t>MAE = </a:t>
            </a:r>
            <a:r>
              <a:rPr lang="en-US" sz="1200" dirty="0" smtClean="0">
                <a:solidFill>
                  <a:srgbClr val="CBD5E1"/>
                </a:solidFill>
              </a:rPr>
              <a:t>4.10 | </a:t>
            </a:r>
            <a:r>
              <a:rPr lang="en-US" sz="12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r>
              <a:rPr lang="en-US" sz="1200" dirty="0" smtClean="0"/>
              <a:t> </a:t>
            </a:r>
            <a:r>
              <a:rPr lang="en-US" sz="1200" dirty="0">
                <a:solidFill>
                  <a:srgbClr val="CBD5E1"/>
                </a:solidFill>
              </a:rPr>
              <a:t>Score = </a:t>
            </a:r>
            <a:r>
              <a:rPr lang="en-US" sz="1200" dirty="0" smtClean="0">
                <a:solidFill>
                  <a:srgbClr val="CBD5E1"/>
                </a:solidFill>
              </a:rPr>
              <a:t>0.83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7" name="Text 10"/>
          <p:cNvSpPr/>
          <p:nvPr/>
        </p:nvSpPr>
        <p:spPr>
          <a:xfrm>
            <a:off x="457200" y="463219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9E0B"/>
                </a:solidFill>
              </a:rPr>
              <a:t>Open to Questions &amp; Discussion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65181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3702</TotalTime>
  <Words>882</Words>
  <Application>Microsoft Office PowerPoint</Application>
  <PresentationFormat>On-screen Show (16:9)</PresentationFormat>
  <Paragraphs>205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Exam Score Prediction</dc:title>
  <dc:subject>PptxGenJS Presentation</dc:subject>
  <dc:creator>Capstone Project</dc:creator>
  <cp:lastModifiedBy>HP</cp:lastModifiedBy>
  <cp:revision>61</cp:revision>
  <dcterms:created xsi:type="dcterms:W3CDTF">2026-06-27T13:44:51Z</dcterms:created>
  <dcterms:modified xsi:type="dcterms:W3CDTF">2026-07-03T02:55:48Z</dcterms:modified>
</cp:coreProperties>
</file>